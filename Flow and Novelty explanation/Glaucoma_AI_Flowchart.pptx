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728857" cy="5232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 sz="2800" b="1"/>
            </a:pPr>
            <a:r>
              <a:rPr dirty="0"/>
              <a:t>Glaucoma AI </a:t>
            </a:r>
            <a:r>
              <a:rPr dirty="0" smtClean="0"/>
              <a:t>–</a:t>
            </a:r>
            <a:r>
              <a:rPr lang="en-US" dirty="0" smtClean="0"/>
              <a:t> </a:t>
            </a:r>
            <a:r>
              <a:rPr dirty="0" smtClean="0"/>
              <a:t>Flowchart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731520" y="1177275"/>
            <a:ext cx="2743200" cy="914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dirty="0"/>
              <a:t>Dataset</a:t>
            </a:r>
          </a:p>
          <a:p>
            <a:pPr algn="ctr"/>
            <a:r>
              <a:rPr dirty="0"/>
              <a:t>(</a:t>
            </a:r>
            <a:r>
              <a:rPr dirty="0" err="1"/>
              <a:t>EyePACS</a:t>
            </a:r>
            <a:r>
              <a:rPr dirty="0"/>
              <a:t> → Train,</a:t>
            </a:r>
          </a:p>
          <a:p>
            <a:pPr algn="ctr"/>
            <a:r>
              <a:rPr dirty="0"/>
              <a:t>REFUGE/</a:t>
            </a:r>
            <a:r>
              <a:rPr dirty="0" err="1"/>
              <a:t>PAPILA</a:t>
            </a:r>
            <a:r>
              <a:rPr dirty="0"/>
              <a:t> → Test)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0126" y="1159646"/>
            <a:ext cx="2743200" cy="914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dirty="0"/>
              <a:t>Preprocessing</a:t>
            </a:r>
          </a:p>
          <a:p>
            <a:pPr algn="ctr"/>
            <a:r>
              <a:rPr dirty="0"/>
              <a:t>(Resize, Crop, Augment)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0126" y="2471411"/>
            <a:ext cx="2743200" cy="12141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dirty="0"/>
              <a:t>Feature Extraction</a:t>
            </a:r>
          </a:p>
          <a:p>
            <a:pPr algn="ctr"/>
            <a:r>
              <a:rPr dirty="0"/>
              <a:t>Deep: </a:t>
            </a:r>
            <a:r>
              <a:rPr dirty="0" err="1"/>
              <a:t>ResNet50</a:t>
            </a:r>
            <a:endParaRPr dirty="0"/>
          </a:p>
          <a:p>
            <a:pPr algn="ctr"/>
            <a:r>
              <a:rPr dirty="0"/>
              <a:t>Structural: </a:t>
            </a:r>
            <a:r>
              <a:rPr dirty="0" err="1"/>
              <a:t>CDR</a:t>
            </a:r>
            <a:r>
              <a:rPr dirty="0"/>
              <a:t>, </a:t>
            </a:r>
            <a:r>
              <a:rPr dirty="0" err="1"/>
              <a:t>ISNT</a:t>
            </a:r>
            <a:r>
              <a:rPr dirty="0"/>
              <a:t>, Texture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28928"/>
            <a:ext cx="2743200" cy="113829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dirty="0"/>
              <a:t>Uncertainty (MC-Dropout)</a:t>
            </a:r>
          </a:p>
          <a:p>
            <a:pPr algn="ctr"/>
            <a:r>
              <a:rPr dirty="0"/>
              <a:t>50 passes → U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52576"/>
            <a:ext cx="2743200" cy="12141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dirty="0"/>
              <a:t>H-</a:t>
            </a:r>
            <a:r>
              <a:rPr b="1" dirty="0" err="1"/>
              <a:t>UQ</a:t>
            </a:r>
            <a:r>
              <a:rPr b="1" dirty="0"/>
              <a:t>-</a:t>
            </a:r>
            <a:r>
              <a:rPr b="1" dirty="0" err="1"/>
              <a:t>MFF</a:t>
            </a:r>
            <a:r>
              <a:rPr b="1" dirty="0"/>
              <a:t> Fusion</a:t>
            </a:r>
          </a:p>
          <a:p>
            <a:pPr algn="ctr"/>
            <a:r>
              <a:rPr dirty="0"/>
              <a:t>Deep + Structural + U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0126" y="3935011"/>
            <a:ext cx="2743200" cy="12141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dirty="0"/>
              <a:t>Calibration</a:t>
            </a:r>
          </a:p>
          <a:p>
            <a:pPr algn="ctr"/>
            <a:r>
              <a:rPr dirty="0"/>
              <a:t>Temp Scaling, </a:t>
            </a:r>
            <a:r>
              <a:rPr dirty="0" err="1"/>
              <a:t>ECE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5360126" y="5537948"/>
            <a:ext cx="2743200" cy="9630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dirty="0"/>
              <a:t>Classifier Output</a:t>
            </a:r>
          </a:p>
          <a:p>
            <a:pPr algn="ctr"/>
            <a:r>
              <a:rPr dirty="0"/>
              <a:t>Risk + Uncertainty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37948"/>
            <a:ext cx="2743200" cy="9630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b="1" dirty="0"/>
              <a:t>Clinical Decision</a:t>
            </a:r>
          </a:p>
          <a:p>
            <a:pPr algn="ctr"/>
            <a:r>
              <a:rPr dirty="0"/>
              <a:t>Auto / Assist / Review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1550126"/>
            <a:ext cx="374469" cy="23513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4230188" y="4542081"/>
            <a:ext cx="374469" cy="23513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 rot="5400000">
            <a:off x="6544491" y="2155163"/>
            <a:ext cx="374469" cy="23513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rot="10800000">
            <a:off x="4206240" y="2960915"/>
            <a:ext cx="374469" cy="23513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5400000">
            <a:off x="1915885" y="3755220"/>
            <a:ext cx="374469" cy="23513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rot="5400000">
            <a:off x="6544490" y="5225984"/>
            <a:ext cx="374469" cy="23513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0800000">
            <a:off x="4206240" y="5952871"/>
            <a:ext cx="374469" cy="23513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</Words>
  <Application>Microsoft Office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2025-11-20T07:55:41Z</dcterms:modified>
  <cp:category/>
</cp:coreProperties>
</file>